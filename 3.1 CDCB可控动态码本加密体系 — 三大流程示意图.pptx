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6256000" cy="9144000"/>
  <p:notesSz cx="9144000" cy="16256000"/>
  <p:embeddedFontLst>
    <p:embeddedFont>
      <p:font typeface="Quattrocento Sans" panose="020B0502050000020003" pitchFamily="34" charset="0"/>
      <p:regular r:id="rId13"/>
    </p:embeddedFont>
    <p:embeddedFont>
      <p:font typeface="Quattrocento Sans" panose="020B0502050000020003" pitchFamily="34" charset="-122"/>
      <p:regular r:id="rId14"/>
    </p:embeddedFont>
    <p:embeddedFont>
      <p:font typeface="Quattrocento Sans" panose="020B0502050000020003" pitchFamily="34" charset="-120"/>
      <p:regular r:id="rId15"/>
    </p:embeddedFont>
    <p:embeddedFont>
      <p:font typeface="Liter" panose="02000503030000020004" pitchFamily="34" charset="0"/>
      <p:regular r:id="rId16"/>
    </p:embeddedFont>
    <p:embeddedFont>
      <p:font typeface="Liter" panose="02000503030000020004" pitchFamily="34" charset="-122"/>
      <p:regular r:id="rId17"/>
    </p:embeddedFont>
    <p:embeddedFont>
      <p:font typeface="Liter" panose="02000503030000020004" pitchFamily="34" charset="-120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  <p:embeddedFont>
      <p:font typeface="微软雅黑" panose="020B0503020204020204" charset="-122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11.fntdata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2476500"/>
            <a:ext cx="5080000" cy="0"/>
          </a:xfrm>
          <a:prstGeom prst="straightConnector1">
            <a:avLst/>
          </a:prstGeom>
          <a:noFill/>
          <a:ln w="25400">
            <a:solidFill>
              <a:srgbClr val="C17A38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778000" y="2730500"/>
            <a:ext cx="1270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0D444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可控动态码本加密体系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778000" y="3683000"/>
            <a:ext cx="1270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5E8B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Controllable Dynamic Codebook Cryptosystem (CDCB)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588000" y="4318000"/>
            <a:ext cx="5080000" cy="0"/>
          </a:xfrm>
          <a:prstGeom prst="straightConnector1">
            <a:avLst/>
          </a:prstGeom>
          <a:noFill/>
          <a:ln w="25400">
            <a:solidFill>
              <a:srgbClr val="C17A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048000" y="4762500"/>
            <a:ext cx="1016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kern="0" spc="400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码本生成 · 加密流程 · 解密流程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48000" y="5270500"/>
            <a:ext cx="1016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200" dirty="0">
                <a:solidFill>
                  <a:srgbClr val="5E8B8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Codebook Generation · Encryption · Decryption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18000" y="5969000"/>
            <a:ext cx="7620000" cy="1143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 w="19050">
            <a:solidFill>
              <a:srgbClr val="B8C9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6070600"/>
            <a:ext cx="7112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标准参数</a:t>
            </a:r>
            <a:r>
              <a:rPr lang="en-US" sz="14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m = 16（旋转周期） k = 4（码本数量）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单码本熵 ≈ 40.25 bit | 总安全熵 ≈ 161 bit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0D4447"/>
          </a:solidFill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44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流程一：码本生成</a:t>
            </a:r>
            <a:r>
              <a:rPr lang="en-US" sz="2800" dirty="0">
                <a:solidFill>
                  <a:srgbClr val="0D444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5E8B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Codebook Generation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825500"/>
            <a:ext cx="14732000" cy="0"/>
          </a:xfrm>
          <a:prstGeom prst="straightConnector1">
            <a:avLst/>
          </a:prstGeom>
          <a:noFill/>
          <a:ln w="19050">
            <a:solidFill>
              <a:srgbClr val="0D4447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9906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E8B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单组码本生成流程（以第 i 组为例）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03500" y="1371600"/>
            <a:ext cx="3429000" cy="66040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 w="25400">
            <a:solidFill>
              <a:srgbClr val="0D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03500" y="1371600"/>
            <a:ext cx="3429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输入：盐值 S[i] + 基码 B[i]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S[i] ∈ uint64_t | B[i] ∈ uint16_t</a:t>
            </a:r>
            <a:endParaRPr lang="en-US" sz="1400" dirty="0">
              <a:solidFill>
                <a:srgbClr val="5E8B8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18000" y="2032000"/>
            <a:ext cx="0" cy="27940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095500" y="2311400"/>
            <a:ext cx="4445000" cy="660400"/>
          </a:xfrm>
          <a:prstGeom prst="roundRect">
            <a:avLst>
              <a:gd name="adj" fmla="val 6000"/>
            </a:avLst>
          </a:prstGeom>
          <a:solidFill>
            <a:srgbClr val="D4E5E7"/>
          </a:solidFill>
          <a:ln w="19050">
            <a:solidFill>
              <a:srgbClr val="5E8B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95500" y="2311400"/>
            <a:ext cx="4445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1：初始化恒等排列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codebook[i][j] = j, j = 0,1,...,15</a:t>
            </a:r>
            <a:endParaRPr lang="en-US" sz="1400" dirty="0">
              <a:solidFill>
                <a:srgbClr val="5E8B8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18000" y="2971800"/>
            <a:ext cx="0" cy="27940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778000" y="3251200"/>
            <a:ext cx="5080000" cy="787400"/>
          </a:xfrm>
          <a:prstGeom prst="roundRect">
            <a:avLst>
              <a:gd name="adj" fmla="val 6000"/>
            </a:avLst>
          </a:prstGeom>
          <a:solidFill>
            <a:srgbClr val="D4E5E7"/>
          </a:solidFill>
          <a:ln w="25400">
            <a:solidFill>
              <a:srgbClr val="C17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78000" y="3251200"/>
            <a:ext cx="5080000" cy="787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2：Fisher-Yates 洗牌算法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S[i] 生成伪随机序列，打乱排列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C17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π : {0,...,15} → {0,...,15}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18000" y="4038600"/>
            <a:ext cx="0" cy="27940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2095500" y="4318000"/>
            <a:ext cx="4445000" cy="660400"/>
          </a:xfrm>
          <a:prstGeom prst="roundRect">
            <a:avLst>
              <a:gd name="adj" fmla="val 6000"/>
            </a:avLst>
          </a:prstGeom>
          <a:solidFill>
            <a:srgbClr val="D4E5E7"/>
          </a:solidFill>
          <a:ln w="19050">
            <a:solidFill>
              <a:srgbClr val="5E8B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95500" y="4318000"/>
            <a:ext cx="4445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3：生成反向码本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codebook_inv[i][codebook[i][j]] = j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18000" y="4978400"/>
            <a:ext cx="0" cy="27940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2540000" y="5257800"/>
            <a:ext cx="3556000" cy="66040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 w="25400">
            <a:solidFill>
              <a:srgbClr val="C17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0000" y="5257800"/>
            <a:ext cx="3556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输出：动态码本 CB(i)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C17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sz="1400" baseline="-40000" dirty="0">
                <a:solidFill>
                  <a:srgbClr val="C17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en-US" sz="1400" dirty="0">
                <a:solidFill>
                  <a:srgbClr val="C17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(j) = b</a:t>
            </a:r>
            <a:r>
              <a:rPr lang="en-US" sz="1400" baseline="-40000" dirty="0">
                <a:solidFill>
                  <a:srgbClr val="C17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π(j)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70000" y="6032500"/>
            <a:ext cx="6350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独立码本空间基数 = (m-1)! = 15! | 信息熵 = log₂(15!) ≈ 40.25 bit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763000" y="9906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E8B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偏置权重初始化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223500" y="1371600"/>
            <a:ext cx="1778000" cy="762000"/>
          </a:xfrm>
          <a:prstGeom prst="diamond">
            <a:avLst/>
          </a:prstGeom>
          <a:solidFill>
            <a:srgbClr val="D4E5E7"/>
          </a:solidFill>
          <a:ln w="19050">
            <a:solidFill>
              <a:srgbClr val="0D44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50500" y="1447800"/>
            <a:ext cx="1524000" cy="584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权重模式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5E8B8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len==0?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26500" y="2476500"/>
            <a:ext cx="2032000" cy="57150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 w="19050">
            <a:solidFill>
              <a:srgbClr val="5E8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26500" y="2476500"/>
            <a:ext cx="20320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随机权重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5E8B8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CDCB_SAFE_RANDOM()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430000" y="2476500"/>
            <a:ext cx="2413000" cy="66040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 w="19050">
            <a:solidFill>
              <a:srgbClr val="C17A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0" y="2476500"/>
            <a:ext cx="2413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双峰极化权重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C17A3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基于明文频率分布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842500" y="2133600"/>
            <a:ext cx="0" cy="342900"/>
          </a:xfrm>
          <a:prstGeom prst="straightConnector1">
            <a:avLst/>
          </a:prstGeom>
          <a:noFill/>
          <a:ln w="19050">
            <a:solidFill>
              <a:srgbClr val="5E8B8E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2636500" y="2133600"/>
            <a:ext cx="0" cy="342900"/>
          </a:xfrm>
          <a:prstGeom prst="straightConnector1">
            <a:avLst/>
          </a:prstGeom>
          <a:noFill/>
          <a:ln w="19050">
            <a:solidFill>
              <a:srgbClr val="5E8B8E"/>
            </a:solidFill>
            <a:prstDash val="solid"/>
            <a:headEnd type="none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9207500" y="2147570"/>
            <a:ext cx="6350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E8B8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636500" y="2147570"/>
            <a:ext cx="444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E8B8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144000" y="3365500"/>
            <a:ext cx="4445000" cy="66040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 w="25400">
            <a:solidFill>
              <a:srgbClr val="C17A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0" y="3365500"/>
            <a:ext cx="4445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输出：偏置权重表 bias[16][4]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C17A3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无需解密方同步 — 单边权重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842500" y="3048000"/>
            <a:ext cx="0" cy="317500"/>
          </a:xfrm>
          <a:prstGeom prst="straightConnector1">
            <a:avLst/>
          </a:prstGeom>
          <a:noFill/>
          <a:ln w="19050">
            <a:solidFill>
              <a:srgbClr val="5E8B8E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12636500" y="3136900"/>
            <a:ext cx="0" cy="228600"/>
          </a:xfrm>
          <a:prstGeom prst="straightConnector1">
            <a:avLst/>
          </a:prstGeom>
          <a:noFill/>
          <a:ln w="19050">
            <a:solidFill>
              <a:srgbClr val="5E8B8E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8763000" y="4318000"/>
            <a:ext cx="6604000" cy="207137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 w="12700">
            <a:solidFill>
              <a:srgbClr val="B8C9C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17000" y="44196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系统安全参数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17000" y="4762500"/>
            <a:ext cx="6096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0D4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16（旋转周期 / 码元空间大小）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0D4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4（并行码本数量）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0D4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单码本熵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log₂(15!) ≈ 40.25 bit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C17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总安全熵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k × log₂((m-1)!) ≈ 161 bit</a:t>
            </a:r>
            <a:endParaRPr lang="en-US" sz="1600" dirty="0">
              <a:solidFill>
                <a:srgbClr val="1C1C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62000" y="6477000"/>
            <a:ext cx="7620000" cy="508000"/>
          </a:xfrm>
          <a:prstGeom prst="roundRect">
            <a:avLst>
              <a:gd name="adj" fmla="val 6000"/>
            </a:avLst>
          </a:prstGeom>
          <a:solidFill>
            <a:srgbClr val="0D4447"/>
          </a:solidFill>
        </p:spPr>
      </p:sp>
      <p:sp>
        <p:nvSpPr>
          <p:cNvPr id="39" name="Text 37"/>
          <p:cNvSpPr/>
          <p:nvPr/>
        </p:nvSpPr>
        <p:spPr>
          <a:xfrm>
            <a:off x="762000" y="6477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× 4 组码本并行生成</a:t>
            </a:r>
            <a:r>
              <a:rPr 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→ 4组正向码本 + 4组反向码本 + 1组偏置权重表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2000" y="72390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2000" y="7594600"/>
            <a:ext cx="14732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① 盐值驱动动态性</a:t>
            </a:r>
            <a:r>
              <a:rPr lang="en-US" sz="1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：更换盐值即可生成全新码本映射，无需重建基码池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② 旋转等价容忍</a:t>
            </a:r>
            <a:r>
              <a:rPr lang="en-US" sz="1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：主动引入可控旋转等价冗余，将安全建立在统计不可区分性之上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C17A3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③ 单边权重保密</a:t>
            </a:r>
            <a:r>
              <a:rPr lang="en-US" sz="1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：偏置权重由盐值固定生成，对攻击者保密，且无需解密方同步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E8B8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 / 06</a:t>
            </a:r>
            <a:endParaRPr lang="en-US" sz="1200" dirty="0"/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9842500" y="2133600"/>
            <a:ext cx="2794000" cy="13970"/>
          </a:xfrm>
          <a:prstGeom prst="line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44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流程二：加密流程</a:t>
            </a:r>
            <a:r>
              <a:rPr lang="en-US" sz="2800" dirty="0">
                <a:solidFill>
                  <a:srgbClr val="0D444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5E8B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Encryption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825500"/>
            <a:ext cx="14732000" cy="0"/>
          </a:xfrm>
          <a:prstGeom prst="straightConnector1">
            <a:avLst/>
          </a:prstGeom>
          <a:noFill/>
          <a:ln w="19050">
            <a:solidFill>
              <a:srgbClr val="0D4447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952500"/>
            <a:ext cx="4445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E8B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单符号加密流程（4-bit 明文 → 16-bit 密文标记）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06500" y="1371600"/>
            <a:ext cx="2540000" cy="63500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 w="25400">
            <a:solidFill>
              <a:srgbClr val="0D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6500" y="1371600"/>
            <a:ext cx="2540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输入：明文符号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plain_4bit ∈ [0, 15]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46500" y="1689100"/>
            <a:ext cx="444500" cy="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191000" y="1270000"/>
            <a:ext cx="2921000" cy="86360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 w="25400">
            <a:solidFill>
              <a:srgbClr val="C17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1000" y="1270000"/>
            <a:ext cx="29210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1：偏置权重选码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CDCB_select_codebook()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C17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∈ [0,255] 按累积概率选择</a:t>
            </a:r>
            <a:endParaRPr lang="en-US" sz="1200" dirty="0">
              <a:solidFill>
                <a:srgbClr val="C17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112000" y="1689100"/>
            <a:ext cx="444500" cy="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7556500" y="1333500"/>
            <a:ext cx="2667000" cy="736600"/>
          </a:xfrm>
          <a:prstGeom prst="roundRect">
            <a:avLst>
              <a:gd name="adj" fmla="val 6000"/>
            </a:avLst>
          </a:prstGeom>
          <a:solidFill>
            <a:srgbClr val="D4E5E7"/>
          </a:solidFill>
          <a:ln w="19050">
            <a:solidFill>
              <a:srgbClr val="5E8B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56500" y="1333500"/>
            <a:ext cx="2667000" cy="736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2：码本查找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offset = codebook[group][plain]</a:t>
            </a:r>
            <a:endParaRPr lang="en-US" sz="1200" dirty="0">
              <a:solidFill>
                <a:srgbClr val="5E8B8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223500" y="1689100"/>
            <a:ext cx="444500" cy="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0668000" y="1270000"/>
            <a:ext cx="2921000" cy="863600"/>
          </a:xfrm>
          <a:prstGeom prst="roundRect">
            <a:avLst>
              <a:gd name="adj" fmla="val 6000"/>
            </a:avLst>
          </a:prstGeom>
          <a:solidFill>
            <a:srgbClr val="D4E5E7"/>
          </a:solidFill>
          <a:ln w="25400">
            <a:solidFill>
              <a:srgbClr val="0D44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68000" y="1270000"/>
            <a:ext cx="29210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3：旋转变换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CDCB_kid_rotate(base, offset)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D4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基码循环左移 offset 位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3589000" y="1689100"/>
            <a:ext cx="444500" cy="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4033500" y="1371600"/>
            <a:ext cx="1778000" cy="63500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 w="25400">
            <a:solidFill>
              <a:srgbClr val="C17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33500" y="1371600"/>
            <a:ext cx="1778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16-bit 密文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C17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cipher kid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937000" y="2260600"/>
            <a:ext cx="3429000" cy="1041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8C9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4000" y="2311400"/>
            <a:ext cx="31750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选码逻辑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64000" y="2565400"/>
            <a:ext cx="3175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 = RANDOM() % 256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 &lt; bias[s][n] → group=n</a:t>
            </a:r>
            <a:endParaRPr lang="en-US" sz="1400" dirty="0">
              <a:solidFill>
                <a:srgbClr val="1C1C1E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477500" y="2260600"/>
            <a:ext cx="3302000" cy="1041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8C9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4500" y="2311400"/>
            <a:ext cx="30480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旋转公式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04500" y="2565400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((code &lt;&lt; n) | (code &gt;&gt; (16-n)))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&amp; 0xFFFF</a:t>
            </a:r>
            <a:endParaRPr lang="en-US" sz="1200" dirty="0">
              <a:solidFill>
                <a:srgbClr val="1C1C1E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2000" y="3556000"/>
            <a:ext cx="4445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E8B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字节加密流程（8-bit 明文 → 32-bit 密文）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2000" y="4089400"/>
            <a:ext cx="2032000" cy="108966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 w="25400">
            <a:solidFill>
              <a:srgbClr val="0D44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000" y="4318000"/>
            <a:ext cx="2032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8-bit 明文 byte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e.g., 0xAB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94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2692400" y="4572000"/>
            <a:ext cx="609600" cy="203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拆分</a:t>
            </a:r>
            <a:endParaRPr lang="en-US" sz="1400" b="1" dirty="0">
              <a:solidFill>
                <a:srgbClr val="5E8B8E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302000" y="4089400"/>
            <a:ext cx="2159000" cy="457200"/>
          </a:xfrm>
          <a:prstGeom prst="roundRect">
            <a:avLst>
              <a:gd name="adj" fmla="val 6000"/>
            </a:avLst>
          </a:prstGeom>
          <a:solidFill>
            <a:srgbClr val="D4E5E7"/>
          </a:solidFill>
          <a:ln w="19050">
            <a:solidFill>
              <a:srgbClr val="5E8B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02000" y="4089400"/>
            <a:ext cx="215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高4位</a:t>
            </a:r>
            <a:r>
              <a:rPr lang="en-US" sz="1300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1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(byte &gt;&gt; 4)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302000" y="4775200"/>
            <a:ext cx="2159000" cy="457200"/>
          </a:xfrm>
          <a:prstGeom prst="roundRect">
            <a:avLst>
              <a:gd name="adj" fmla="val 6000"/>
            </a:avLst>
          </a:prstGeom>
          <a:solidFill>
            <a:srgbClr val="D4E5E7"/>
          </a:solidFill>
          <a:ln w="19050">
            <a:solidFill>
              <a:srgbClr val="5E8B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37000" y="4546600"/>
            <a:ext cx="0" cy="1080000"/>
          </a:xfrm>
          <a:prstGeom prst="straightConnector1">
            <a:avLst/>
          </a:prstGeom>
          <a:noFill/>
          <a:ln w="19050">
            <a:solidFill>
              <a:srgbClr val="5E8B8E"/>
            </a:solidFill>
            <a:prstDash val="solid"/>
            <a:headEnd type="none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3302000" y="4775200"/>
            <a:ext cx="215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低4位</a:t>
            </a:r>
            <a:r>
              <a:rPr lang="en-US" sz="1300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1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byte &amp; 0x0F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302000" y="5626735"/>
            <a:ext cx="2159000" cy="53340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 w="19050">
            <a:solidFill>
              <a:srgbClr val="C17A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02000" y="5626735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加密高4位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C17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16-bit cipher[0]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302000" y="6312535"/>
            <a:ext cx="2159000" cy="53340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 w="19050">
            <a:solidFill>
              <a:srgbClr val="C17A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02000" y="6312535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加密低4位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C17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16-bit cipher[1]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61000" y="5893435"/>
            <a:ext cx="508000" cy="0"/>
          </a:xfrm>
          <a:prstGeom prst="straightConnector1">
            <a:avLst/>
          </a:prstGeom>
          <a:noFill/>
          <a:ln w="25400">
            <a:solidFill>
              <a:srgbClr val="C17A38"/>
            </a:solidFill>
            <a:prstDash val="solid"/>
            <a:headEnd type="none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5461000" y="6579235"/>
            <a:ext cx="508000" cy="0"/>
          </a:xfrm>
          <a:prstGeom prst="straightConnector1">
            <a:avLst/>
          </a:prstGeom>
          <a:noFill/>
          <a:ln w="25400">
            <a:solidFill>
              <a:srgbClr val="C17A38"/>
            </a:solidFill>
            <a:prstDash val="solid"/>
            <a:headEnd type="none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5969000" y="5626735"/>
            <a:ext cx="2540000" cy="120650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 w="25400">
            <a:solidFill>
              <a:srgbClr val="C17A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69000" y="5626735"/>
            <a:ext cx="2540000" cy="1206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输出：32-bit 密文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C17A3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cipher[0] = encrypt(high)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C17A3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cipher[1] = encrypt(low)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144000" y="3556000"/>
            <a:ext cx="6350000" cy="3619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8C9C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34500" y="3657600"/>
            <a:ext cx="596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加密示例：明文 0xAB → 两个16位密文标记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334500" y="4013200"/>
            <a:ext cx="5969000" cy="3022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高4位</a:t>
            </a: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：0xA (10) → bias选码 → codebook[group][10]=offset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→ rotate(base[group], offset) → </a:t>
            </a:r>
            <a:r>
              <a:rPr lang="en-US" sz="1300" b="1" dirty="0">
                <a:solidFill>
                  <a:srgbClr val="C17A3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cipher[0] (16-bit kid)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低4位</a:t>
            </a: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：0xB (11) → bias选码 → codebook[group][11]=offset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→ rotate(base[group], offset) → </a:t>
            </a:r>
            <a:r>
              <a:rPr lang="en-US" sz="1300" b="1" dirty="0">
                <a:solidFill>
                  <a:srgbClr val="C17A3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cipher[1] (16-bit kid)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5E8B8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核心特性：</a:t>
            </a: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同一明文每次加密可能选用不同码本，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产生不同的密文标记 —— 彻底消除统计等价性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62000" y="7429500"/>
            <a:ext cx="14732000" cy="1143000"/>
          </a:xfrm>
          <a:prstGeom prst="roundRect">
            <a:avLst>
              <a:gd name="adj" fmla="val 4000"/>
            </a:avLst>
          </a:prstGeom>
          <a:solidFill>
            <a:srgbClr val="E8F0F1"/>
          </a:solidFill>
          <a:ln w="12700">
            <a:solidFill>
              <a:srgbClr val="B8C9C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6000" y="7531100"/>
            <a:ext cx="381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核心函数声明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16000" y="7848600"/>
            <a:ext cx="14224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uint16_t</a:t>
            </a: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CDCB_encrypt_nibble(</a:t>
            </a:r>
            <a:r>
              <a:rPr lang="en-US" sz="13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uint8_t</a:t>
            </a: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plain_4bit); </a:t>
            </a:r>
            <a:r>
              <a:rPr lang="en-US" sz="1300" dirty="0">
                <a:solidFill>
                  <a:srgbClr val="5E8B8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// 4-bit → 16-bit 单符号加密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void</a:t>
            </a: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CDCB_encrypt_byte(</a:t>
            </a:r>
            <a:r>
              <a:rPr lang="en-US" sz="13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uint8_t</a:t>
            </a: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plain_byte, </a:t>
            </a:r>
            <a:r>
              <a:rPr lang="en-US" sz="13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uint16_t</a:t>
            </a: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cipher[2]); </a:t>
            </a:r>
            <a:r>
              <a:rPr lang="en-US" sz="1300" dirty="0">
                <a:solidFill>
                  <a:srgbClr val="5E8B8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// 8-bit → 32-bit 字节加密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E8B8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 / 06</a:t>
            </a:r>
            <a:endParaRPr lang="en-US" sz="1200" dirty="0"/>
          </a:p>
        </p:txBody>
      </p:sp>
      <p:sp>
        <p:nvSpPr>
          <p:cNvPr id="51" name="Shape 26"/>
          <p:cNvSpPr/>
          <p:nvPr/>
        </p:nvSpPr>
        <p:spPr>
          <a:xfrm>
            <a:off x="2794000" y="5003800"/>
            <a:ext cx="508000" cy="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4826000" y="5222240"/>
            <a:ext cx="0" cy="1080000"/>
          </a:xfrm>
          <a:prstGeom prst="straightConnector1">
            <a:avLst/>
          </a:prstGeom>
          <a:noFill/>
          <a:ln w="19050">
            <a:solidFill>
              <a:srgbClr val="5E8B8E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44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流程三：解密流程</a:t>
            </a:r>
            <a:r>
              <a:rPr lang="en-US" sz="2800" dirty="0">
                <a:solidFill>
                  <a:srgbClr val="0D444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5E8B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Decryption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825500"/>
            <a:ext cx="14732000" cy="0"/>
          </a:xfrm>
          <a:prstGeom prst="straightConnector1">
            <a:avLst/>
          </a:prstGeom>
          <a:noFill/>
          <a:ln w="19050">
            <a:solidFill>
              <a:srgbClr val="0D4447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952500"/>
            <a:ext cx="4826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E8B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单符号解密流程（16-bit 密文标记 → 4-bit 明文）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371600"/>
            <a:ext cx="2159000" cy="63500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 w="25400">
            <a:solidFill>
              <a:srgbClr val="0D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371600"/>
            <a:ext cx="2159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输入：密文标记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cipher_kid ∈ uint16_t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1000" y="1689100"/>
            <a:ext cx="381000" cy="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302000" y="1244600"/>
            <a:ext cx="2921000" cy="914400"/>
          </a:xfrm>
          <a:prstGeom prst="roundRect">
            <a:avLst>
              <a:gd name="adj" fmla="val 6000"/>
            </a:avLst>
          </a:prstGeom>
          <a:solidFill>
            <a:srgbClr val="D4E5E7"/>
          </a:solidFill>
          <a:ln w="25400">
            <a:solidFill>
              <a:srgbClr val="0D4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2000" y="1244600"/>
            <a:ext cx="2921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1：码本折叠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CDCB_kid_to_base()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D4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循环移位找最小值 → 基码+偏移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23000" y="1689100"/>
            <a:ext cx="381000" cy="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6604000" y="1270000"/>
            <a:ext cx="2921000" cy="863600"/>
          </a:xfrm>
          <a:prstGeom prst="roundRect">
            <a:avLst>
              <a:gd name="adj" fmla="val 6000"/>
            </a:avLst>
          </a:prstGeom>
          <a:solidFill>
            <a:srgbClr val="D4E5E7"/>
          </a:solidFill>
          <a:ln w="19050">
            <a:solidFill>
              <a:srgbClr val="5E8B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4000" y="1270000"/>
            <a:ext cx="29210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2：码本识别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遍历 base[0..3] 匹配基码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D4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确定码本组索引 group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525000" y="1689100"/>
            <a:ext cx="381000" cy="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9906000" y="1244600"/>
            <a:ext cx="3048000" cy="91440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 w="25400">
            <a:solidFill>
              <a:srgbClr val="C17A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6000" y="1244600"/>
            <a:ext cx="3048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3：反向码本查找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codebook_inv[group][offset]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C17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O(1) 时间复杂度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2954000" y="1689100"/>
            <a:ext cx="381000" cy="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3335000" y="1371600"/>
            <a:ext cx="2159000" cy="63500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 w="25400">
            <a:solidFill>
              <a:srgbClr val="0D44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35000" y="1371600"/>
            <a:ext cx="2159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输出：明文符号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plain_4bit ∈ [0, 15]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111500" y="2349500"/>
            <a:ext cx="3302000" cy="1168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8C9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8500" y="2413000"/>
            <a:ext cx="30480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码本折叠原理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38500" y="2667000"/>
            <a:ext cx="3048000" cy="78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对 cipher_kid 循环右移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最小值 = 基码 base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循环次数 = 偏移 offset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779000" y="2349500"/>
            <a:ext cx="3302000" cy="99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8C9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6000" y="2413000"/>
            <a:ext cx="30480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O(1) 反向查找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6000" y="2667000"/>
            <a:ext cx="304800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初始化时构建反向码本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codebook_inv[group][offset] → plain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3810000"/>
            <a:ext cx="4826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E8B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字节解密流程（32-bit 密文 → 8-bit 明文）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2000" y="4318000"/>
            <a:ext cx="2540000" cy="926465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 w="25400">
            <a:solidFill>
              <a:srgbClr val="0D44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000" y="4457700"/>
            <a:ext cx="2540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输入：两个16-bit密文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5E8B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cipher[0], cipher[1]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302000" y="4457700"/>
            <a:ext cx="444500" cy="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3746500" y="4191000"/>
            <a:ext cx="2413000" cy="533400"/>
          </a:xfrm>
          <a:prstGeom prst="roundRect">
            <a:avLst>
              <a:gd name="adj" fmla="val 6000"/>
            </a:avLst>
          </a:prstGeom>
          <a:solidFill>
            <a:srgbClr val="D4E5E7"/>
          </a:solidFill>
          <a:ln w="19050">
            <a:solidFill>
              <a:srgbClr val="5E8B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6500" y="4191000"/>
            <a:ext cx="24130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解密 cipher[0]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E8B8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→ high 4-bit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746500" y="4902200"/>
            <a:ext cx="2413000" cy="533400"/>
          </a:xfrm>
          <a:prstGeom prst="roundRect">
            <a:avLst>
              <a:gd name="adj" fmla="val 6000"/>
            </a:avLst>
          </a:prstGeom>
          <a:solidFill>
            <a:srgbClr val="D4E5E7"/>
          </a:solidFill>
          <a:ln w="19050">
            <a:solidFill>
              <a:srgbClr val="5E8B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6500" y="4902200"/>
            <a:ext cx="24130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解密 cipher[1]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E8B8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→ low 4-bit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28335" y="5435600"/>
            <a:ext cx="0" cy="360000"/>
          </a:xfrm>
          <a:prstGeom prst="straightConnector1">
            <a:avLst/>
          </a:prstGeom>
          <a:noFill/>
          <a:ln w="19050">
            <a:solidFill>
              <a:srgbClr val="5E8B8E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3746500" y="5804535"/>
            <a:ext cx="1270000" cy="50800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 w="19050">
            <a:solidFill>
              <a:srgbClr val="C17A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6500" y="5804535"/>
            <a:ext cx="127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07000" y="5804535"/>
            <a:ext cx="1270000" cy="50800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 w="19050">
            <a:solidFill>
              <a:srgbClr val="C17A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07000" y="5804535"/>
            <a:ext cx="127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low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381500" y="6312535"/>
            <a:ext cx="0" cy="254000"/>
          </a:xfrm>
          <a:prstGeom prst="straightConnector1">
            <a:avLst/>
          </a:prstGeom>
          <a:noFill/>
          <a:ln w="19050">
            <a:solidFill>
              <a:srgbClr val="C17A38"/>
            </a:solidFill>
            <a:prstDash val="solid"/>
            <a:headEnd type="none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5842000" y="6312535"/>
            <a:ext cx="0" cy="254000"/>
          </a:xfrm>
          <a:prstGeom prst="straightConnector1">
            <a:avLst/>
          </a:prstGeom>
          <a:noFill/>
          <a:ln w="19050">
            <a:solidFill>
              <a:srgbClr val="C17A38"/>
            </a:solidFill>
            <a:prstDash val="solid"/>
            <a:headEnd type="none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4381500" y="6566535"/>
            <a:ext cx="1460500" cy="0"/>
          </a:xfrm>
          <a:prstGeom prst="straightConnector1">
            <a:avLst/>
          </a:prstGeom>
          <a:noFill/>
          <a:ln w="19050">
            <a:solidFill>
              <a:srgbClr val="C17A38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3238500" y="6819900"/>
            <a:ext cx="3683000" cy="60960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 w="25400">
            <a:solidFill>
              <a:srgbClr val="0D44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38500" y="6819900"/>
            <a:ext cx="3683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输出：8-bit 明文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E8B8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byte = (high &lt;&lt; 4) | low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239000" y="3810000"/>
            <a:ext cx="82550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8C9C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3000" y="3937000"/>
            <a:ext cx="7747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解密核心特性：自包含还原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493000" y="4318000"/>
            <a:ext cx="7747000" cy="317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① 无需知道加密时选用的码本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密文标记本身包含基码信息，通过码本折叠即可还原基码和偏移量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② 码本识别无需同步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解密方通过匹配基码池中的基码即可确定码本组索引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17A3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③ 反向码本保证 O(1) 解密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初始化阶段预先生成反向码本，解密时直接数组索引查找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5E8B8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④ 偏置权重无需同步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解密完全不依赖偏置权重 —— 这是单边保密的核心设计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62000" y="7937500"/>
            <a:ext cx="14732000" cy="698500"/>
          </a:xfrm>
          <a:prstGeom prst="roundRect">
            <a:avLst>
              <a:gd name="adj" fmla="val 4000"/>
            </a:avLst>
          </a:prstGeom>
          <a:solidFill>
            <a:srgbClr val="E8F0F1"/>
          </a:solidFill>
          <a:ln w="12700">
            <a:solidFill>
              <a:srgbClr val="B8C9C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6000" y="8001000"/>
            <a:ext cx="381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核心函数声明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16000" y="8280400"/>
            <a:ext cx="142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bool</a:t>
            </a: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CDCB_decrypt_nibble(</a:t>
            </a:r>
            <a:r>
              <a:rPr lang="en-US" sz="13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uint16_t</a:t>
            </a: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cipher, </a:t>
            </a:r>
            <a:r>
              <a:rPr lang="en-US" sz="13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uint8_t</a:t>
            </a: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*plain, </a:t>
            </a:r>
            <a:r>
              <a:rPr lang="en-US" sz="13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uint8_t</a:t>
            </a:r>
            <a:r>
              <a:rPr lang="en-US" sz="13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*group); </a:t>
            </a:r>
            <a:r>
              <a:rPr lang="en-US" sz="1300" dirty="0">
                <a:solidFill>
                  <a:srgbClr val="5E8B8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// 16-bit → 4-bit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E8B8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 / 06</a:t>
            </a:r>
            <a:endParaRPr lang="en-US" sz="1200" dirty="0"/>
          </a:p>
        </p:txBody>
      </p:sp>
      <p:sp>
        <p:nvSpPr>
          <p:cNvPr id="51" name="Shape 37"/>
          <p:cNvSpPr/>
          <p:nvPr/>
        </p:nvSpPr>
        <p:spPr>
          <a:xfrm>
            <a:off x="5111750" y="6565900"/>
            <a:ext cx="0" cy="254000"/>
          </a:xfrm>
          <a:prstGeom prst="straightConnector1">
            <a:avLst/>
          </a:prstGeom>
          <a:noFill/>
          <a:ln w="19050">
            <a:solidFill>
              <a:srgbClr val="C17A38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381500" y="4724400"/>
            <a:ext cx="0" cy="1080000"/>
          </a:xfrm>
          <a:prstGeom prst="straightConnector1">
            <a:avLst/>
          </a:prstGeom>
          <a:noFill/>
          <a:ln w="19050">
            <a:solidFill>
              <a:srgbClr val="5E8B8E"/>
            </a:solidFill>
            <a:prstDash val="solid"/>
            <a:headEnd type="none"/>
            <a:tailEnd type="arrow"/>
          </a:ln>
        </p:spPr>
      </p:sp>
      <p:sp>
        <p:nvSpPr>
          <p:cNvPr id="52" name="Shape 26"/>
          <p:cNvSpPr/>
          <p:nvPr/>
        </p:nvSpPr>
        <p:spPr>
          <a:xfrm>
            <a:off x="3302000" y="5168900"/>
            <a:ext cx="444500" cy="0"/>
          </a:xfrm>
          <a:prstGeom prst="straightConnector1">
            <a:avLst/>
          </a:prstGeom>
          <a:noFill/>
          <a:ln w="25400">
            <a:solidFill>
              <a:srgbClr val="0D4447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44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CDCB 三流程总览</a:t>
            </a:r>
            <a:r>
              <a:rPr lang="en-US" sz="2800" dirty="0">
                <a:solidFill>
                  <a:srgbClr val="0D444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5E8B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825500"/>
            <a:ext cx="14732000" cy="0"/>
          </a:xfrm>
          <a:prstGeom prst="straightConnector1">
            <a:avLst/>
          </a:prstGeom>
          <a:noFill/>
          <a:ln w="19050">
            <a:solidFill>
              <a:srgbClr val="0D4447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62000" y="1143000"/>
            <a:ext cx="4572000" cy="187960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 w="25400">
            <a:solidFill>
              <a:srgbClr val="0D44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9000" y="1206500"/>
            <a:ext cx="698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87500" y="1206500"/>
            <a:ext cx="355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码本生成</a:t>
            </a:r>
            <a:r>
              <a:rPr lang="en-US" sz="1800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1300" dirty="0">
                <a:solidFill>
                  <a:srgbClr val="5E8B8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Codebook Gen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1625600"/>
            <a:ext cx="4191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盐值 S[i] + 基码 B[i] 为输入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Fisher-Yates 洗牌生成动态映射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生成正向码本 + 反向码本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初始化偏置权重表 bias[16][4]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1143000"/>
            <a:ext cx="4572000" cy="187960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 w="25400">
            <a:solidFill>
              <a:srgbClr val="C17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42000" y="1206500"/>
            <a:ext cx="698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C17A3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40500" y="1206500"/>
            <a:ext cx="355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17A3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加密流程</a:t>
            </a:r>
            <a:r>
              <a:rPr lang="en-US" sz="1800" dirty="0">
                <a:solidFill>
                  <a:srgbClr val="C17A3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1300" dirty="0">
                <a:solidFill>
                  <a:srgbClr val="5E8B8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05500" y="1625600"/>
            <a:ext cx="4191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偏置权重选择码本 (0-3)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码本查找获取旋转偏移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基码循环左移生成密文标记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4-bit → 16-bit 单符号加密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143000"/>
            <a:ext cx="4826000" cy="187960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 w="25400">
            <a:solidFill>
              <a:srgbClr val="0D4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95000" y="1206500"/>
            <a:ext cx="698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93500" y="1206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解密流程</a:t>
            </a:r>
            <a:r>
              <a:rPr lang="en-US" sz="1800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1300" dirty="0">
                <a:solidFill>
                  <a:srgbClr val="5E8B8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Decryption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858500" y="1625600"/>
            <a:ext cx="444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码本折叠还原基码和偏移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遍历基码池识别码本组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反向码本 O(1) 查找明文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16-bit → 4-bit 自包含还原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0" y="1968500"/>
            <a:ext cx="381000" cy="0"/>
          </a:xfrm>
          <a:prstGeom prst="straightConnector1">
            <a:avLst/>
          </a:prstGeom>
          <a:noFill/>
          <a:ln w="25400">
            <a:solidFill>
              <a:srgbClr val="5E8B8E"/>
            </a:solidFill>
            <a:prstDash val="solid"/>
            <a:headEnd type="none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5207000" y="965200"/>
            <a:ext cx="107950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5E8B8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codebook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287000" y="1968500"/>
            <a:ext cx="381000" cy="0"/>
          </a:xfrm>
          <a:prstGeom prst="straightConnector1">
            <a:avLst/>
          </a:prstGeom>
          <a:noFill/>
          <a:ln w="25400">
            <a:solidFill>
              <a:srgbClr val="5E8B8E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10033000" y="965200"/>
            <a:ext cx="1143000" cy="177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5E8B8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codebook_inv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0" y="3238500"/>
            <a:ext cx="8636000" cy="533400"/>
          </a:xfrm>
          <a:prstGeom prst="roundRect">
            <a:avLst>
              <a:gd name="adj" fmla="val 8000"/>
            </a:avLst>
          </a:prstGeom>
          <a:solidFill>
            <a:srgbClr val="0D4447"/>
          </a:solidFill>
        </p:spPr>
      </p:sp>
      <p:sp>
        <p:nvSpPr>
          <p:cNvPr id="21" name="Text 19"/>
          <p:cNvSpPr/>
          <p:nvPr/>
        </p:nvSpPr>
        <p:spPr>
          <a:xfrm>
            <a:off x="3810000" y="3238500"/>
            <a:ext cx="8636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共享资源：4组正向码本 + 4组反向码本 + 偏置权重表 + 基码池（4个基码）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0005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安全参数一览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762000" y="4406900"/>
          <a:ext cx="6858000" cy="2476500"/>
        </p:xfrm>
        <a:graphic>
          <a:graphicData uri="http://schemas.openxmlformats.org/drawingml/2006/table">
            <a:tbl>
              <a:tblPr/>
              <a:tblGrid>
                <a:gridCol w="2400300"/>
                <a:gridCol w="2057400"/>
                <a:gridCol w="2400300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参数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数值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说明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44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m（旋转周期）</a:t>
                      </a:r>
                      <a:endParaRPr lang="en-US" sz="1400" u="none" dirty="0">
                        <a:solidFill>
                          <a:srgbClr val="1C1C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Sans" pitchFamily="34" charset="-120"/>
                        </a:rPr>
                        <a:t>16</a:t>
                      </a:r>
                      <a:endParaRPr lang="en-US" sz="1400" u="none" dirty="0">
                        <a:solidFill>
                          <a:srgbClr val="1C1C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Sans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码元空间大小，16位旋转不等价码</a:t>
                      </a:r>
                      <a:endParaRPr lang="en-US" sz="1400" u="none" dirty="0">
                        <a:solidFill>
                          <a:srgbClr val="1C1C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k（码本数）</a:t>
                      </a:r>
                      <a:endParaRPr lang="en-US" sz="1400" u="none" dirty="0">
                        <a:solidFill>
                          <a:srgbClr val="1C1C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Sans" pitchFamily="34" charset="-120"/>
                        </a:rPr>
                        <a:t>4</a:t>
                      </a:r>
                      <a:endParaRPr lang="en-US" sz="1400" u="none" dirty="0">
                        <a:solidFill>
                          <a:srgbClr val="1C1C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Sans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Sans" pitchFamily="34" charset="-120"/>
                        </a:rPr>
                        <a:t>并行独立码本数量</a:t>
                      </a:r>
                      <a:endParaRPr lang="en-US" sz="1400" u="none" dirty="0">
                        <a:solidFill>
                          <a:srgbClr val="1C1C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Sans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Sans" pitchFamily="34" charset="-120"/>
                        </a:rPr>
                        <a:t>单码本熵</a:t>
                      </a:r>
                      <a:endParaRPr lang="en-US" sz="1400" u="none" dirty="0">
                        <a:solidFill>
                          <a:srgbClr val="1C1C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Sans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17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Sans" pitchFamily="34" charset="-120"/>
                        </a:rPr>
                        <a:t>≈ 40.25 bit</a:t>
                      </a:r>
                      <a:endParaRPr lang="en-US" sz="1400" u="none" dirty="0">
                        <a:solidFill>
                          <a:srgbClr val="C17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Sans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log₂(15!)，独立排列空间</a:t>
                      </a:r>
                      <a:endParaRPr lang="en-US" sz="1400" u="none" dirty="0">
                        <a:solidFill>
                          <a:srgbClr val="1C1C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Sans" pitchFamily="34" charset="-120"/>
                        </a:rPr>
                        <a:t>总安全熵</a:t>
                      </a:r>
                      <a:endParaRPr lang="en-US" sz="1400" u="none" dirty="0">
                        <a:solidFill>
                          <a:srgbClr val="1C1C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Sans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17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QuattrocentoSans" pitchFamily="34" charset="-120"/>
                        </a:rPr>
                        <a:t>≈ 161 bit</a:t>
                      </a:r>
                      <a:endParaRPr lang="en-US" sz="1400" u="none" dirty="0">
                        <a:solidFill>
                          <a:srgbClr val="C17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QuattrocentoSans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 × log₂((m-1)!)，乘积空间</a:t>
                      </a:r>
                      <a:endParaRPr lang="en-US" sz="1400" u="none" dirty="0">
                        <a:solidFill>
                          <a:srgbClr val="1C1C1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1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8001000" y="4000500"/>
            <a:ext cx="7493000" cy="292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17A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55000" y="4102100"/>
            <a:ext cx="6985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17A3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核心创新点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55000" y="4508500"/>
            <a:ext cx="6985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4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① 安全策略迁移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从"码本空间保密" → "码本结构保密"，容忍代数等价，破坏统计等价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500"/>
              </a:spcBef>
            </a:pPr>
            <a:r>
              <a:rPr lang="en-US" sz="1400" b="1" dirty="0">
                <a:solidFill>
                  <a:srgbClr val="0D444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② 盐值驱动动态性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更换盐值即生成全新码本，攻击者统计特征随即失效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500"/>
              </a:spcBef>
            </a:pPr>
            <a:r>
              <a:rPr lang="en-US" sz="1400" b="1" dirty="0">
                <a:solidFill>
                  <a:srgbClr val="C17A3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③ 双峰极化分布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偏置权重彻底消除跨码本统计关联，信息泄露量降低93%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62000" y="7175500"/>
            <a:ext cx="14732000" cy="69850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 w="12700">
            <a:solidFill>
              <a:srgbClr val="B8C9C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16000" y="7239000"/>
            <a:ext cx="142240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KL散度</a:t>
            </a:r>
            <a:r>
              <a:rPr lang="en-US" sz="14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：∞ → 0.54 bit | </a:t>
            </a:r>
            <a:r>
              <a:rPr lang="en-US" sz="14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码本相关系数</a:t>
            </a:r>
            <a:r>
              <a:rPr lang="en-US" sz="14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：1.0 → -0.05 | </a:t>
            </a:r>
            <a:r>
              <a:rPr lang="en-US" sz="1400" b="1" dirty="0">
                <a:solidFill>
                  <a:srgbClr val="0D444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区分准确率</a:t>
            </a:r>
            <a:r>
              <a:rPr lang="en-US" sz="14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：100% → 61.3% | </a:t>
            </a:r>
            <a:r>
              <a:rPr lang="en-US" sz="1400" b="1" dirty="0">
                <a:solidFill>
                  <a:srgbClr val="C17A3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信息泄露量</a:t>
            </a:r>
            <a:r>
              <a:rPr lang="en-US" sz="1400" dirty="0">
                <a:solidFill>
                  <a:srgbClr val="1C1C1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：1.92 → 0.14 bit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E8B8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 / 06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C17A38"/>
          </a:solidFill>
        </p:spPr>
      </p:sp>
      <p:sp>
        <p:nvSpPr>
          <p:cNvPr id="3" name="Text 1"/>
          <p:cNvSpPr/>
          <p:nvPr/>
        </p:nvSpPr>
        <p:spPr>
          <a:xfrm>
            <a:off x="1778000" y="2286000"/>
            <a:ext cx="1270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可控动态码本加密体系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78000" y="3048000"/>
            <a:ext cx="1270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B8C9C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Controllable Dynamic Codebook Cryptosystem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88000" y="3746500"/>
            <a:ext cx="5080000" cy="0"/>
          </a:xfrm>
          <a:prstGeom prst="straightConnector1">
            <a:avLst/>
          </a:prstGeom>
          <a:noFill/>
          <a:ln w="25400">
            <a:solidFill>
              <a:srgbClr val="C17A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2413000" y="4000500"/>
            <a:ext cx="114300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从"码本空间保密"到"码本结构保密" —— 安全策略的根本性迁移</a:t>
            </a:r>
            <a:endParaRPr lang="en-US" sz="16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1651000" y="4953000"/>
            <a:ext cx="3810000" cy="1143000"/>
          </a:xfrm>
          <a:prstGeom prst="roundRect">
            <a:avLst>
              <a:gd name="adj" fmla="val 6000"/>
            </a:avLst>
          </a:prstGeom>
          <a:solidFill>
            <a:srgbClr val="092F31"/>
          </a:solidFill>
          <a:ln w="12700">
            <a:solidFill>
              <a:srgbClr val="5E8B8E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1778000" y="5016500"/>
            <a:ext cx="3556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C17A3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可控冗余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主动引入旋转等价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统计等价完全保密</a:t>
            </a:r>
            <a:endParaRPr lang="en-US" sz="1600" dirty="0"/>
          </a:p>
        </p:txBody>
      </p:sp>
      <p:sp>
        <p:nvSpPr>
          <p:cNvPr id="9" name="Shape 7"/>
          <p:cNvSpPr/>
          <p:nvPr>
            <p:custDataLst>
              <p:tags r:id="rId3"/>
            </p:custDataLst>
          </p:nvPr>
        </p:nvSpPr>
        <p:spPr>
          <a:xfrm>
            <a:off x="6223000" y="4953000"/>
            <a:ext cx="3810000" cy="1143000"/>
          </a:xfrm>
          <a:prstGeom prst="roundRect">
            <a:avLst>
              <a:gd name="adj" fmla="val 6000"/>
            </a:avLst>
          </a:prstGeom>
          <a:solidFill>
            <a:srgbClr val="092F31"/>
          </a:solidFill>
          <a:ln w="12700">
            <a:solidFill>
              <a:srgbClr val="5E8B8E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6350000" y="5016500"/>
            <a:ext cx="3556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C17A3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动态码本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盐值驱动实时更新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总安全熵 ≈ 161 bit</a:t>
            </a:r>
            <a:endParaRPr lang="en-US" sz="1600" dirty="0"/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10795000" y="4953000"/>
            <a:ext cx="3810000" cy="1143000"/>
          </a:xfrm>
          <a:prstGeom prst="roundRect">
            <a:avLst>
              <a:gd name="adj" fmla="val 6000"/>
            </a:avLst>
          </a:prstGeom>
          <a:solidFill>
            <a:srgbClr val="092F31"/>
          </a:solidFill>
          <a:ln w="12700">
            <a:solidFill>
              <a:srgbClr val="5E8B8E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10922000" y="5016500"/>
            <a:ext cx="3556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C17A3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单边权重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双峰极化分布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信息泄露仅 0.14 bit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092F31"/>
          </a:solidFill>
        </p:spPr>
      </p:sp>
      <p:sp>
        <p:nvSpPr>
          <p:cNvPr id="14" name="Text 12"/>
          <p:cNvSpPr/>
          <p:nvPr/>
        </p:nvSpPr>
        <p:spPr>
          <a:xfrm>
            <a:off x="4318000" y="6477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B8C9C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CDCB: Controllable Dynamic Codebook Cryptosystem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90,&quot;left&quot;:130,&quot;top&quot;:390,&quot;width&quot;:1020}"/>
</p:tagLst>
</file>

<file path=ppt/tags/tag2.xml><?xml version="1.0" encoding="utf-8"?>
<p:tagLst xmlns:p="http://schemas.openxmlformats.org/presentationml/2006/main">
  <p:tag name="KSO_WM_DIAGRAM_VIRTUALLY_FRAME" val="{&quot;height&quot;:90,&quot;left&quot;:130,&quot;top&quot;:390,&quot;width&quot;:1020}"/>
</p:tagLst>
</file>

<file path=ppt/tags/tag3.xml><?xml version="1.0" encoding="utf-8"?>
<p:tagLst xmlns:p="http://schemas.openxmlformats.org/presentationml/2006/main">
  <p:tag name="KSO_WM_DIAGRAM_VIRTUALLY_FRAME" val="{&quot;height&quot;:90,&quot;left&quot;:130,&quot;top&quot;:390,&quot;width&quot;:1020}"/>
</p:tagLst>
</file>

<file path=ppt/tags/tag4.xml><?xml version="1.0" encoding="utf-8"?>
<p:tagLst xmlns:p="http://schemas.openxmlformats.org/presentationml/2006/main">
  <p:tag name="KSO_WM_DIAGRAM_VIRTUALLY_FRAME" val="{&quot;height&quot;:90,&quot;left&quot;:130,&quot;top&quot;:390,&quot;width&quot;:1020}"/>
</p:tagLst>
</file>

<file path=ppt/tags/tag5.xml><?xml version="1.0" encoding="utf-8"?>
<p:tagLst xmlns:p="http://schemas.openxmlformats.org/presentationml/2006/main">
  <p:tag name="KSO_WM_DIAGRAM_VIRTUALLY_FRAME" val="{&quot;height&quot;:90,&quot;left&quot;:130,&quot;top&quot;:390,&quot;width&quot;:1020}"/>
</p:tagLst>
</file>

<file path=ppt/tags/tag6.xml><?xml version="1.0" encoding="utf-8"?>
<p:tagLst xmlns:p="http://schemas.openxmlformats.org/presentationml/2006/main">
  <p:tag name="KSO_WM_DIAGRAM_VIRTUALLY_FRAME" val="{&quot;height&quot;:90,&quot;left&quot;:130,&quot;top&quot;:390,&quot;width&quot;:1020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3502</Words>
  <Application>WPS 演示</Application>
  <PresentationFormat>On-screen Show (16:9)</PresentationFormat>
  <Paragraphs>304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8" baseType="lpstr">
      <vt:lpstr>Arial</vt:lpstr>
      <vt:lpstr>宋体</vt:lpstr>
      <vt:lpstr>Wingdings</vt:lpstr>
      <vt:lpstr>QuattrocentoSans</vt:lpstr>
      <vt:lpstr>Segoe Print</vt:lpstr>
      <vt:lpstr>QuattrocentoSans</vt:lpstr>
      <vt:lpstr>QuattrocentoSans</vt:lpstr>
      <vt:lpstr>Quattrocento Sans</vt:lpstr>
      <vt:lpstr>Quattrocento Sans</vt:lpstr>
      <vt:lpstr>Quattrocento Sans</vt:lpstr>
      <vt:lpstr>Liter</vt:lpstr>
      <vt:lpstr>Liter</vt:lpstr>
      <vt:lpstr>Liter</vt:lpstr>
      <vt:lpstr>Calibri</vt:lpstr>
      <vt:lpstr>MS PGothic</vt:lpstr>
      <vt:lpstr>微软雅黑</vt:lpstr>
      <vt:lpstr>Arial Unicode MS</vt:lpstr>
      <vt:lpstr>等线</vt:lpstr>
      <vt:lpstr>MingLiU-ExtB</vt:lpstr>
      <vt:lpstr>Comic Sans MS</vt:lpstr>
      <vt:lpstr>黑体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CDCB可控动态码本加密体系 — 三大流程示意图</dc:title>
  <dc:creator>Kimi</dc:creator>
  <dc:subject>CDCB可控动态码本加密体系 — 三大流程示意图</dc:subject>
  <cp:lastModifiedBy>大概是饼干</cp:lastModifiedBy>
  <cp:revision>5</cp:revision>
  <dcterms:created xsi:type="dcterms:W3CDTF">2026-05-24T10:32:00Z</dcterms:created>
  <dcterms:modified xsi:type="dcterms:W3CDTF">2026-05-24T11:09:39Z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{"Label":"CDCB可控动态码本加密体系 — 三大流程示意图","ContentProducer":"001191110108MACG2KBH8F10000","ProduceID":"19e594d3-f022-81ff-8000-00003fd38e7c","ReservedCode1":"","ContentPropagator":"001191110108MACG2KBH8F20000","PropagateID":"19e594d3-f022-81ff-8000-00003fd38e7c","ReservedCode2":""}</vt:lpwstr>
  </property>
  <property fmtid="{D5CDD505-2E9C-101B-9397-08002B2CF9AE}" pid="3" name="KSOProductBuildVer">
    <vt:lpwstr>2052-12.1.0.25865</vt:lpwstr>
  </property>
  <property fmtid="{D5CDD505-2E9C-101B-9397-08002B2CF9AE}" pid="4" name="ICV">
    <vt:lpwstr>E59304EEDCB9470788C631D91822F153_12</vt:lpwstr>
  </property>
</Properties>
</file>